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58" r:id="rId5"/>
    <p:sldId id="322" r:id="rId6"/>
    <p:sldId id="338" r:id="rId7"/>
    <p:sldId id="279" r:id="rId8"/>
    <p:sldId id="264" r:id="rId9"/>
    <p:sldId id="376" r:id="rId10"/>
    <p:sldId id="378" r:id="rId11"/>
    <p:sldId id="379" r:id="rId12"/>
    <p:sldId id="373" r:id="rId13"/>
    <p:sldId id="300" r:id="rId14"/>
    <p:sldId id="340" r:id="rId15"/>
    <p:sldId id="299" r:id="rId16"/>
    <p:sldId id="341" r:id="rId17"/>
    <p:sldId id="374" r:id="rId18"/>
    <p:sldId id="388" r:id="rId19"/>
    <p:sldId id="389" r:id="rId20"/>
    <p:sldId id="390" r:id="rId21"/>
    <p:sldId id="331" r:id="rId22"/>
    <p:sldId id="333" r:id="rId23"/>
    <p:sldId id="334" r:id="rId24"/>
    <p:sldId id="277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AFDB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265" autoAdjust="0"/>
  </p:normalViewPr>
  <p:slideViewPr>
    <p:cSldViewPr showGuide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A0C10A7-8C5C-4859-9C35-977586A6216D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Engineering,  SKNCOE, Pune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C8231DE-D35D-4FC8-9191-F490B4299FB3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61A5BC-F276-484B-AB49-FCB394E32110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Engineering,  SKNCOE, Pune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C8C87D1-CDFA-4318-B004-8AA55EF41350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2C2B56-A331-4C74-9657-A473665380CF}" type="slidenum">
              <a:rPr lang="en-US" smtClean="0"/>
            </a:fld>
            <a:endParaRPr lang="en-US" smtClean="0"/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4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Department of Computer Engineering,  SKNCOE, Pune</a:t>
            </a:r>
            <a:endParaRPr lang="en-US" smtClean="0"/>
          </a:p>
        </p:txBody>
      </p:sp>
      <p:sp>
        <p:nvSpPr>
          <p:cNvPr id="25606" name="Date Placeholder 5"/>
          <p:cNvSpPr>
            <a:spLocks noGrp="1"/>
          </p:cNvSpPr>
          <p:nvPr>
            <p:ph type="dt" sz="quarter" idx="1"/>
          </p:nvPr>
        </p:nvSpPr>
        <p:spPr bwMode="auto"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CD66550-7584-40EF-9966-C937923C4936}" type="datetime1">
              <a:rPr lang="en-US" smtClean="0"/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869C10-1A42-4EE5-89D0-15B9CC4EE98F}" type="datetime1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E013C8-80AF-4BF7-8AB6-09B59D4D30CA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DA265B-1C44-42D7-B18B-240033C9F73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260EE0-F213-43B8-93CE-D75D608EBE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B96AC72F-BA69-4A24-ABD4-73EAF1BA5DA7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D2A267-6747-4701-998B-FD796BD7314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B67BFC-1261-4B1D-8FD1-7A3AC4BCCC76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D4966D-21EB-4228-8B83-87B3A4FFFC5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C4F394-8652-4DDB-828A-05F8FB4B1EA7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67543-CCBD-46A2-8B76-87E190BE87C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3F296D-6CD2-4228-88AD-D65F98771D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9040D0-5C5C-441E-8F93-FC08FDBDB05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B50460-1EA3-41AB-90D6-B2EC7A1790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D6F145-A85D-464F-8F9E-0FA2622479E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116F41-4CAC-48E8-BA69-9A2C3A24858E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35F954-21A7-43D0-A7D7-CFDD8B716A9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EDC4A889-B668-4992-BA87-ED3525BBFEB5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3B3BE9-FF16-402F-8CAD-3BEEF027D91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012B8-5BEB-4CE4-A210-5C13349CD4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7AC030-3E76-446B-8E67-6DA4668CE35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5F8ADD-4E43-4905-B88F-6B09F48D62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4A20C6F-0EEB-46D7-8CEE-0DD4C311460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IN" dirty="0" smtClean="0"/>
              <a:t>Department of Computer Engineering ,SKNCOE,SPPU, Pune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4890EDE8-9B3A-448D-9BD5-38C94BB5D9B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Footer Placeholder 9"/>
          <p:cNvSpPr>
            <a:spLocks noGrp="1"/>
          </p:cNvSpPr>
          <p:nvPr>
            <p:ph type="ftr" sz="quarter" idx="11"/>
          </p:nvPr>
        </p:nvSpPr>
        <p:spPr bwMode="auto">
          <a:xfrm>
            <a:off x="0" y="5105400"/>
            <a:ext cx="9144000" cy="1447800"/>
          </a:xfrm>
          <a:ln>
            <a:miter lim="800000"/>
          </a:ln>
        </p:spPr>
        <p:txBody>
          <a:bodyPr vert="horz" wrap="square" lIns="91440" tIns="45720" rIns="91440" bIns="45720" numCol="1" compatLnSpc="1"/>
          <a:lstStyle/>
          <a:p>
            <a:pPr algn="ctr"/>
            <a:r>
              <a:rPr lang="en-IN" sz="16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endParaRPr lang="en-IN" sz="16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Ajeenkya</a:t>
            </a:r>
            <a:r>
              <a:rPr lang="en-IN" sz="16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Y </a:t>
            </a:r>
            <a:r>
              <a:rPr lang="en-IN" sz="16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atil</a:t>
            </a:r>
            <a:r>
              <a:rPr lang="en-IN" sz="16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Engineering, </a:t>
            </a:r>
            <a:r>
              <a:rPr lang="en-IN" sz="16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Lohegaon</a:t>
            </a:r>
            <a:endParaRPr lang="en-IN" sz="16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Savitribai</a:t>
            </a:r>
            <a:r>
              <a:rPr lang="en-IN" sz="16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Phule</a:t>
            </a:r>
            <a:r>
              <a:rPr lang="en-IN" sz="16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Pune University, Pune</a:t>
            </a:r>
            <a:endParaRPr lang="en-US" sz="16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28600" y="1905000"/>
            <a:ext cx="8915400" cy="1219200"/>
          </a:xfrm>
        </p:spPr>
        <p:txBody>
          <a:bodyPr>
            <a:normAutofit fontScale="90000"/>
          </a:bodyPr>
          <a:lstStyle/>
          <a:p>
            <a:br>
              <a:rPr sz="2400" dirty="0" smtClean="0"/>
            </a:br>
            <a:r>
              <a:rPr sz="2400" dirty="0" smtClean="0"/>
              <a:t>"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Multimodal Approach for Thyroid Disease Detection Using Imaging and Clinical Data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IN" sz="2200" dirty="0" smtClean="0"/>
            </a:b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0" y="3276600"/>
            <a:ext cx="8991600" cy="1600200"/>
          </a:xfrm>
          <a:prstGeom prst="rect">
            <a:avLst/>
          </a:prstGeom>
        </p:spPr>
        <p:txBody>
          <a:bodyPr anchor="b"/>
          <a:lstStyle/>
          <a:p>
            <a:pPr algn="ctr" fontAlgn="auto">
              <a:spcAft>
                <a:spcPts val="0"/>
              </a:spcAft>
              <a:defRPr/>
            </a:pP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0" y="99937"/>
            <a:ext cx="1524000" cy="128270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187452" y="3306592"/>
            <a:ext cx="8997696" cy="2122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Presented By:                                                            Guided By: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Pratik Pawar                                                      Dr. Amruta Chitari</a:t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Shreyas Nighot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3. Tejas Dambare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3" name="Rectangle 10"/>
          <p:cNvSpPr>
            <a:spLocks noChangeArrowheads="1"/>
          </p:cNvSpPr>
          <p:nvPr/>
        </p:nvSpPr>
        <p:spPr bwMode="auto">
          <a:xfrm>
            <a:off x="0" y="1524000"/>
            <a:ext cx="914400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II Presentation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E013C8-80AF-4BF7-8AB6-09B59D4D30CA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49"/>
          <a:stretch>
            <a:fillRect/>
          </a:stretch>
        </p:blipFill>
        <p:spPr>
          <a:xfrm>
            <a:off x="228600" y="173038"/>
            <a:ext cx="1512000" cy="114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914400" y="685483"/>
            <a:ext cx="7772400" cy="334962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803775"/>
          </a:xfrm>
        </p:spPr>
        <p:txBody>
          <a:bodyPr>
            <a:noAutofit/>
          </a:bodyPr>
          <a:lstStyle/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Future Scope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Analysis(H/W and S/W with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costing)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Tx/>
              <a:buSzPct val="90000"/>
              <a:buFont typeface="+mj-lt"/>
              <a:buAutoNum type="arabicPeriod"/>
              <a:defRPr/>
            </a:pPr>
            <a:endParaRPr lang="en-US" sz="1600" dirty="0" smtClean="0">
              <a:cs typeface="Times New Roman" panose="02020603050405020304" pitchFamily="18" charset="0"/>
            </a:endParaRPr>
          </a:p>
          <a:p>
            <a:pPr marL="457200" indent="-457200">
              <a:buClrTx/>
              <a:buNone/>
              <a:defRPr/>
            </a:pPr>
            <a:r>
              <a:rPr lang="en-US" sz="1600" dirty="0" smtClean="0">
                <a:cs typeface="Times New Roman" panose="02020603050405020304" pitchFamily="18" charset="0"/>
              </a:rPr>
              <a:t>   </a:t>
            </a:r>
            <a:endParaRPr lang="en-US" sz="1600" dirty="0" smtClean="0">
              <a:cs typeface="Times New Roman" panose="02020603050405020304" pitchFamily="18" charset="0"/>
            </a:endParaRPr>
          </a:p>
          <a:p>
            <a:pPr marL="457200" indent="-457200">
              <a:buClrTx/>
              <a:buNone/>
              <a:defRPr/>
            </a:pPr>
            <a:endParaRPr lang="en-US" sz="1600" dirty="0" smtClean="0">
              <a:cs typeface="Times New Roman" panose="02020603050405020304" pitchFamily="18" charset="0"/>
            </a:endParaRPr>
          </a:p>
          <a:p>
            <a:pPr marL="457200" indent="-457200">
              <a:buClrTx/>
              <a:buFont typeface="+mj-lt"/>
              <a:buAutoNum type="arabicPeriod"/>
              <a:defRPr/>
            </a:pPr>
            <a:endParaRPr lang="en-US" sz="1600" dirty="0" smtClean="0">
              <a:cs typeface="Times New Roman" panose="02020603050405020304" pitchFamily="18" charset="0"/>
            </a:endParaRPr>
          </a:p>
          <a:p>
            <a:pPr marL="457200" indent="-457200">
              <a:buClrTx/>
              <a:buFont typeface="+mj-lt"/>
              <a:buAutoNum type="arabicPeriod"/>
              <a:defRPr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6400800"/>
            <a:ext cx="457200" cy="457200"/>
          </a:xfrm>
        </p:spPr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US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>
            <a:normAutofit fontScale="25000"/>
          </a:bodyPr>
          <a:lstStyle/>
          <a:p>
            <a:endParaRPr lang="en-US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7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is the Thyroid?</a:t>
            </a: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It is a crucial endocrine gland.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7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Function:</a:t>
            </a: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It is essential for controlling three key areas of the body: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Growth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Metabolism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Hormone balance in general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7200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Hormones:</a:t>
            </a: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gland's function is typically measured by key hormones found in the blood: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Thyroid Stimulating Hormone (TSH)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Triiodothyronine (T3) </a:t>
            </a: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sz="720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Thyroxine (T4)</a:t>
            </a:r>
            <a:endParaRPr lang="en-US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/>
              <a:t>                                      </a:t>
            </a:r>
            <a:endParaRPr lang="en-IN" sz="2000" dirty="0"/>
          </a:p>
        </p:txBody>
      </p:sp>
      <p:pic>
        <p:nvPicPr>
          <p:cNvPr id="3" name="Picture 2" descr="23188-thyroid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3810000"/>
            <a:ext cx="2360295" cy="2623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457200" cy="457200"/>
          </a:xfrm>
        </p:spPr>
        <p:txBody>
          <a:bodyPr/>
          <a:lstStyle/>
          <a:p>
            <a:pPr>
              <a:defRPr/>
            </a:pPr>
            <a:fld id="{54C4F394-8652-4DDB-828A-05F8FB4B1EA7}" type="slidenum">
              <a:rPr lang="en-US" smtClean="0"/>
            </a:fld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1080135" y="872490"/>
            <a:ext cx="62350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Common Disorders: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Thyroid disorders are one of the most prevalent endocrine conditions worldwide.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Two Main Issues: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particularly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common conditions are: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Hypothyroidism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(underactive)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Hyperthyroidism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(overactive)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Why Diagnosis is Hard 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Imaging Flaw: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Ultrasound often relies heavily on the radiologist's skill, which can lead to inconsistency or misinterpretation.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marR="0" lvl="0" indent="-400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Lab Flaw: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Blood tests are accurate for hormone levels, but they may not detect physical issues like anatomical abnormalities.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Result:</a:t>
            </a:r>
            <a:r>
              <a:rPr lang="en-US" altLang="en-US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Using only one method limits overall accuracy and can cause missed cases or incorrect diagnoses.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635" y="1546860"/>
            <a:ext cx="3065145" cy="1688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thyroid diagnosis uses ultrasound images or blood tests separately, which may reduce accuracy. This project combines both data sources to improve thyroid disease detection.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Motivation</a:t>
            </a:r>
            <a:endParaRPr lang="en-US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 descr="motivation-person-clip-art-png-favpng-qwwBqVJpGTkFJLd7Faj51C1rV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2590800"/>
            <a:ext cx="4216400" cy="3947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160145" y="569595"/>
            <a:ext cx="7221855" cy="721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ClrTx/>
              <a:buSzPct val="90000"/>
              <a:buFont typeface="+mj-lt"/>
              <a:buNone/>
              <a:defRPr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Problem Statement</a:t>
            </a:r>
            <a:endParaRPr lang="en-US" sz="3600" b="1"/>
          </a:p>
        </p:txBody>
      </p:sp>
      <p:sp>
        <p:nvSpPr>
          <p:cNvPr id="3" name="Text Box 2"/>
          <p:cNvSpPr txBox="1"/>
          <p:nvPr/>
        </p:nvSpPr>
        <p:spPr>
          <a:xfrm>
            <a:off x="1160145" y="1664970"/>
            <a:ext cx="66884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deep learning framework using CNN and Random Forest to improve the accuracy and reliability of thyroid disease detection.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47800" y="3200400"/>
            <a:ext cx="3877945" cy="3119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400810" y="622935"/>
            <a:ext cx="6219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Objectives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71600" y="1752600"/>
            <a:ext cx="6076950" cy="306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 a multimodal system using ultrasound images and clinical data.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Extract image features using CNN and analyze clinical data using Random Forest.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 both models to improve thyroid disease detection accuracy.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Classify patients as Normal, Hypothyroid, or Hyperthyroid.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3" name="Picture 3" descr="Objective PNG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419600"/>
            <a:ext cx="2904490" cy="183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Uses readily available ultrasound images and blood test data (TSH, T3, T4).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Employs proven AI models: CNN for images and Random Forest for clinical data.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 prediction accuracy and reliable results.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Includes Explainable AI features for better trust and interpretation.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clinical decision support systems.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Supports accurate and early thyroid disease diagnosis.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diagnose other diseases using multimodal data.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can include advanced Explainable AI and additional patient data.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6300" y="525145"/>
            <a:ext cx="6286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Feasibility and Future Scope</a:t>
            </a:r>
            <a:endParaRPr lang="en-US" sz="3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714500"/>
            <a:ext cx="5814695" cy="4610100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Requirements :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Computer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(Minimum Configuration):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Processor: Intel i5 or higher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RAM: 8 GB or more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Storage: 512 GB SSD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GPU (for Image Processing): NVIDIA GTX 1050 or higher (Optional but recommended)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Estimated Cost: ₹40,000 – ₹60,000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  <a:defRPr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4400" y="688340"/>
            <a:ext cx="7772400" cy="66103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Requirement Analysis</a:t>
            </a:r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9220" name="Picture 4" descr="Computer Hardware PNG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080473"/>
            <a:ext cx="3609975" cy="21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1143000" y="1524000"/>
            <a:ext cx="7387590" cy="4572000"/>
          </a:xfrm>
        </p:spPr>
        <p:txBody>
          <a:bodyPr>
            <a:normAutofit fontScale="7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IN" sz="285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Requirements: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System: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Windows 10/11 or Ubuntu 20.04+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Programming Language: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Python 3.8+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Frameworks: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TensorFlow or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PyTorch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(for CNN model development)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scikit-learn (for Random Forest model)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Libraries: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Image Processing: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OpenCV,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Pydicom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Handling: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NumPy, Pandas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Interpretation: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matplotlib, seaborn,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shap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(for feature importance)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Development Environment: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Jupyter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Notebook, VS Code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81000"/>
            <a:ext cx="1914525" cy="2426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204595" y="560705"/>
            <a:ext cx="6263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</a:t>
            </a:r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</a:t>
            </a:r>
            <a:endParaRPr lang="en-IN" sz="3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75715" y="1295400"/>
            <a:ext cx="7525385" cy="5039360"/>
          </a:xfrm>
          <a:prstGeom prst="rect">
            <a:avLst/>
          </a:prstGeom>
          <a:noFill/>
        </p:spPr>
        <p:txBody>
          <a:bodyPr wrap="square" numCol="2" rtlCol="0">
            <a:noAutofit/>
          </a:bodyPr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Ultrasound Images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Clinical Data (TSH, T3, T4)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Preprocessing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Image preprocessing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cleaning &amp; normalization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Feature Extraction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CNN extracts image features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Clinical Data Analysis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Random Forest processes blood test values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Multimodal Fusion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Combine outputs from both models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Classification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Hypothyroid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Hyperthyroid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943350" lvl="8" indent="-285750" algn="l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Generation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Final prediction with explanation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pic>
        <p:nvPicPr>
          <p:cNvPr id="2" name="Picture 1" descr="Blackbo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143000"/>
            <a:ext cx="8016875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240155" y="605155"/>
            <a:ext cx="5541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Datasets</a:t>
            </a:r>
            <a:endParaRPr lang="en-US" sz="3600" b="1"/>
          </a:p>
        </p:txBody>
      </p:sp>
      <p:sp>
        <p:nvSpPr>
          <p:cNvPr id="3" name="Text Box 2"/>
          <p:cNvSpPr txBox="1"/>
          <p:nvPr/>
        </p:nvSpPr>
        <p:spPr>
          <a:xfrm>
            <a:off x="1239520" y="1567180"/>
            <a:ext cx="69138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1: Ultrasound Image Dataset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Thyroid ultrasound images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Normal and abnormal thyroid cases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for image feature extraction using CNN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2: Clinical Dataset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TSH (Thyroid Stimulating Hormone)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T3 (Triiodothyronine)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T4 (Thyroxine)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Age and Gender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for classification using Random Forest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204595" y="711835"/>
            <a:ext cx="6567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 sz="3600" b="1"/>
          </a:p>
        </p:txBody>
      </p:sp>
      <p:sp>
        <p:nvSpPr>
          <p:cNvPr id="4" name="Text Box 3"/>
          <p:cNvSpPr txBox="1"/>
          <p:nvPr/>
        </p:nvSpPr>
        <p:spPr>
          <a:xfrm>
            <a:off x="1205230" y="1549400"/>
            <a:ext cx="6567170" cy="3402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96.1% Accuracy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thyroid disease classification.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prediction reliability using multimodal data fusion.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classified patients as Normal, Hypothyroid, and Hyperthyroid.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manual interpretation of medical data.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early and reliable thyroid disease diagnosis.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708150" y="228600"/>
            <a:ext cx="6885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10. Implementation</a:t>
            </a: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creenshot (11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530" y="990600"/>
            <a:ext cx="5662930" cy="2717165"/>
          </a:xfrm>
          <a:prstGeom prst="rect">
            <a:avLst/>
          </a:prstGeom>
        </p:spPr>
      </p:pic>
      <p:pic>
        <p:nvPicPr>
          <p:cNvPr id="5" name="Picture 4" descr="Screenshot (11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530" y="3810000"/>
            <a:ext cx="5662930" cy="273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pic>
        <p:nvPicPr>
          <p:cNvPr id="8" name="Content Placeholder 7" descr="Screenshot (116)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752600" y="304800"/>
            <a:ext cx="5412740" cy="3162300"/>
          </a:xfrm>
          <a:prstGeom prst="rect">
            <a:avLst/>
          </a:prstGeom>
        </p:spPr>
      </p:pic>
      <p:pic>
        <p:nvPicPr>
          <p:cNvPr id="9" name="Picture 8" descr="Screenshot (11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654425"/>
            <a:ext cx="5413375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Screenshot (119)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2057400" y="304800"/>
            <a:ext cx="5441950" cy="27844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pic>
        <p:nvPicPr>
          <p:cNvPr id="7" name="Picture 6" descr="Screenshot (12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331210"/>
            <a:ext cx="5441315" cy="29330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pic>
        <p:nvPicPr>
          <p:cNvPr id="6" name="Picture 5" descr="Screenshot (12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381000"/>
            <a:ext cx="5390515" cy="3048635"/>
          </a:xfrm>
          <a:prstGeom prst="rect">
            <a:avLst/>
          </a:prstGeom>
        </p:spPr>
      </p:pic>
      <p:pic>
        <p:nvPicPr>
          <p:cNvPr id="7" name="Picture 6" descr="Screenshot (12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505200"/>
            <a:ext cx="5389880" cy="30314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70" y="1066483"/>
            <a:ext cx="7772400" cy="639762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</a:t>
            </a:r>
            <a:endParaRPr lang="en-US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02335" y="1710055"/>
            <a:ext cx="7747635" cy="175641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2200" dirty="0" smtClean="0">
              <a:cs typeface="Times New Roman" panose="02020603050405020304" pitchFamily="18" charset="0"/>
            </a:endParaRPr>
          </a:p>
          <a:p>
            <a:pPr algn="just">
              <a:buNone/>
              <a:defRPr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  <a:defRPr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  <a:defRPr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None/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01700" y="2030095"/>
            <a:ext cx="58039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thyroid disease detection accuracy by integrating ultrasound images and clinical data using a hybrid AI approach.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ng-transparent-sympathetic-magic-conclusions-angle-text-logo-thumbnail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3124200"/>
            <a:ext cx="3429000" cy="3295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6883"/>
            <a:ext cx="8229600" cy="5635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717550" y="990600"/>
            <a:ext cx="7810500" cy="5181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Obaido et al., “Improved Thyroid Disease Detection Using Filter-Based Feature Selection and Stacking Ensemble Methods,”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 Kreem et al., “Survey on Machine Learning and Deep Learning Approaches for Thyroid Disease Detection,” 2025.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Fang et al., “Automated Thyroid Nodule Classification Using Ultrasound Imaging and Transformer-Based Segmentation,” 2025.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 Prathibha et al., “Deep Learning-Based Framework for Thyroid Disease Detection Using Medical Imaging,”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Zhou et al., “Deep Learning-Based Ultrasound Diagnostic Tool with 3D Visualization for Thyroid Nodule Detection,” 2025.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 Wang et al., “Improved Thyroid Ultrasound Diagnosis Using Multi-View Self-Supervised Learning and Two-Stage Pre-Training,”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 Agraz, “Semi-Supervised Machine Learning Approaches for Thyroid Disease Prediction Integrated with Internet of Everything (IoE),”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[8] Gupta et al., “Optimized Machine Learning Model for Thyroid Disease Detection Using Differential Evolution Techniques,”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[9]  Raza et al., “Interpretable Thyroid Disease Diagnosis Using Synthetic Oversampling and Machine Learning,”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endParaRPr lang="en-US" altLang="en-US" sz="1600" dirty="0" smtClean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endParaRPr lang="en-US" altLang="en-US" sz="1600" dirty="0" smtClean="0"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1600" dirty="0" smtClean="0"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 smtClean="0"/>
          </a:p>
          <a:p>
            <a:pPr marL="457200" indent="-457200" fontAlgn="base">
              <a:buFont typeface="+mj-lt"/>
              <a:buAutoNum type="arabicPeriod"/>
            </a:pPr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A758D-9089-4012-81E9-16DC3E5DFD40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90880" y="489585"/>
            <a:ext cx="7614920" cy="543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[10]  Liu et al., “Deep Convolutional Neural Network for Thyroid Nodule Classification Using Ultrasound Images,” 2020.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[11]  Alzubaidi and Fadhel, “Hybrid Machine Learning Approach for Early Thyroid Disease Detection Using Clinical Datasets,”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[12]  Sun et al., “Transformer-Based Deep Learning Models for Thyroid Nodule Diagnosis Using Ultrasound Imaging,”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[13]  Yassin and El-Bialy, “Comparative Study of Machine Learning Algorithms for Thyroid Disease Prediction,”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[14]  Rajalakshmi and Jaya, “Thyroid Disease Classification Using Random Forest and Gradient Boosting Algorithms,”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[15]  Han et al., “Explainable Artificial Intelligence Framework for Thyroid Disease Diagnosis Using Ultrasound Imaging,” 2022.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[16]  Mohammed and Al-Mousa, “IoT-Enabled Artificial Intelligence Framework for Real-Time Thyroid Disease Monitoring,” 2023.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[17]  Mukherjee and Banerjee, “Hybrid CNN and Bi-LSTM Model for Thyroid Disease Prediction,” 2023.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[18]  Chen et al., “Multimodal Framework for Thyroid Disease Classification Using Clinical and Imaging Data,” 2023.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[19]  Sharma et al., “Artificial Intelligence-Based Thyroid Disease Prediction Using Hybrid Machine Learning and Ultrasound Imaging Techniques,” 2024.</a:t>
            </a:r>
            <a:endParaRPr lang="en-US" alt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+mj-lt"/>
              <a:buNone/>
            </a:pPr>
            <a:r>
              <a:rPr lang="en-US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[20]  Zhao et al., “Multicenter Thyroid Disease Diagnosis Using Deep Convolutional Neural Networks on Thyroid Scintigraphy Images,” 2023.</a:t>
            </a:r>
            <a:endParaRPr lang="en-US" altLang="en-US" dirty="0" smtClean="0">
              <a:cs typeface="Times New Roman" panose="02020603050405020304" pitchFamily="18" charset="0"/>
            </a:endParaRPr>
          </a:p>
          <a:p>
            <a:pPr algn="just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059940" y="2559685"/>
            <a:ext cx="4889500" cy="155511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You...</a:t>
            </a:r>
            <a:b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3F296D-6CD2-4228-88AD-D65F98771D25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7423</Words>
  <Application>WPS Presentation</Application>
  <PresentationFormat>On-screen Show (4:3)</PresentationFormat>
  <Paragraphs>265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Wingdings 2</vt:lpstr>
      <vt:lpstr>Times New Roman</vt:lpstr>
      <vt:lpstr>Perpetua</vt:lpstr>
      <vt:lpstr>Franklin Gothic Book</vt:lpstr>
      <vt:lpstr>Microsoft YaHei</vt:lpstr>
      <vt:lpstr>Arial Unicode MS</vt:lpstr>
      <vt:lpstr>Calibri</vt:lpstr>
      <vt:lpstr>Cambria</vt:lpstr>
      <vt:lpstr>Times New Roman</vt:lpstr>
      <vt:lpstr>Equity</vt:lpstr>
      <vt:lpstr> " An Integrated Multimodal Approach for Thyroid Disease Detection Using Imaging and Clinical Data”  </vt:lpstr>
      <vt:lpstr>Table of Contents</vt:lpstr>
      <vt:lpstr>1. Introduction</vt:lpstr>
      <vt:lpstr>PowerPoint 演示文稿</vt:lpstr>
      <vt:lpstr>2. Motivation</vt:lpstr>
      <vt:lpstr>PowerPoint 演示文稿</vt:lpstr>
      <vt:lpstr>PowerPoint 演示文稿</vt:lpstr>
      <vt:lpstr>PowerPoint 演示文稿</vt:lpstr>
      <vt:lpstr>6. Requirement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 Conclusion</vt:lpstr>
      <vt:lpstr>12. References</vt:lpstr>
      <vt:lpstr>PowerPoint 演示文稿</vt:lpstr>
      <vt:lpstr>Thank You...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deep learning based approach for identification of encroachment for Real world images</dc:title>
  <dc:creator>vit</dc:creator>
  <cp:lastModifiedBy>nigho</cp:lastModifiedBy>
  <cp:revision>466</cp:revision>
  <dcterms:created xsi:type="dcterms:W3CDTF">2006-08-16T00:00:00Z</dcterms:created>
  <dcterms:modified xsi:type="dcterms:W3CDTF">2026-06-18T06:10:25Z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74DDC17978714E2DAA46A41E94B77773_13</vt:lpwstr>
  </property>
  <property fmtid="{D5CDD505-2E9C-101B-9397-08002B2CF9AE}" pid="3" name="KSOProductBuildVer">
    <vt:lpwstr>1033-12.1.0.26880</vt:lpwstr>
  </property>
</Properties>
</file>